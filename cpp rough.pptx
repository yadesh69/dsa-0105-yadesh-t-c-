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16"/>
  </p:notesMasterIdLst>
  <p:sldIdLst>
    <p:sldId id="257" r:id="rId2"/>
    <p:sldId id="261" r:id="rId3"/>
    <p:sldId id="267" r:id="rId4"/>
    <p:sldId id="270" r:id="rId5"/>
    <p:sldId id="268" r:id="rId6"/>
    <p:sldId id="281" r:id="rId7"/>
    <p:sldId id="256" r:id="rId8"/>
    <p:sldId id="271" r:id="rId9"/>
    <p:sldId id="272" r:id="rId10"/>
    <p:sldId id="273" r:id="rId11"/>
    <p:sldId id="274" r:id="rId12"/>
    <p:sldId id="277" r:id="rId13"/>
    <p:sldId id="280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0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14289-1412-4553-AC34-BD1ED28589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12A94-1590-4FBA-BBD5-667480802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19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76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digital solution for public transport. Explain that passengers can handle their journey and ticketing online, while administrators manage the transportation system efficiently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012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Explain the problems with the existing manual system. Focus on waiting time, lack of real-time information, human errors, and difficulties in managing large numbers of passengers.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065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/>
              <a:t>Explain what the project aims to achieve. The main goal is to make booking faster and easier while automating transport management and encouraging sustainable public transport.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842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/>
              <a:t>Explain how our proposed system solves the problems mentioned earlier. Passengers use one platform for booking and payments, while administrators manage the complete transport operation.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768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Explain that this module manages users from registration to authentication. Different users have different permissions, so passengers, administrators, and conductors access different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004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Explain that passengers use this module to find suitable transport based on their journey. Administrators maintain the routes, vehicles, and schedules shown to passengers.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278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/>
              <a:t>Explain the actual booking process. The passenger selects a journey and seat, enters details, and receives a digital ticket after successful booking. Cancellation and booking history are also managed here.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21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Explain that this module handles the financial part of the booking. It verifies payments, updates booking status, stores transaction details, and handles refunds when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452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Highlight the benefits compared with the traditional system: faster booking, less manual work, fewer errors, digital tickets, and better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236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Conclude by summarizing the complete system. Emphasize that it solves the major problems of traditional booking while providing a convenient and sustainable transportation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12A94-1590-4FBA-BBD5-66748080212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475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688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463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607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0083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89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539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666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803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043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549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880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871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673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472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809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050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448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97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892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97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433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698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968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004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988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68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07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564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9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164B4683-BFD0-4073-B8C5-57FAFA2C18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DF9D9EDE-C680-414B-8375-00A9091A26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938976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  <p:sldLayoutId id="2147483796" r:id="rId18"/>
    <p:sldLayoutId id="2147483797" r:id="rId19"/>
    <p:sldLayoutId id="2147483798" r:id="rId20"/>
    <p:sldLayoutId id="2147483799" r:id="rId21"/>
    <p:sldLayoutId id="2147483800" r:id="rId22"/>
    <p:sldLayoutId id="2147483801" r:id="rId23"/>
    <p:sldLayoutId id="2147483802" r:id="rId24"/>
    <p:sldLayoutId id="2147483803" r:id="rId25"/>
    <p:sldLayoutId id="2147483804" r:id="rId26"/>
    <p:sldLayoutId id="2147483805" r:id="rId27"/>
    <p:sldLayoutId id="2147483806" r:id="rId28"/>
    <p:sldLayoutId id="214748380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ADA57-7835-42F8-0447-D1DEC93C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9836190-F028-4052-99D1-0D4D5EDD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2" y="1843721"/>
            <a:ext cx="10658168" cy="1565946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Disruption-Resilient Timetable Management System 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71A0206-C220-6D6F-34D8-30BC97E53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750" y="4188255"/>
            <a:ext cx="4719482" cy="21043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Yadesh T (192511306)</a:t>
            </a:r>
          </a:p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Sanjeev S (192511267)</a:t>
            </a:r>
          </a:p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Jithendra Kumar Reddy E C (192472180)</a:t>
            </a:r>
          </a:p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Madhan Kumar Reddy A (192411153)</a:t>
            </a:r>
          </a:p>
        </p:txBody>
      </p:sp>
      <p:pic>
        <p:nvPicPr>
          <p:cNvPr id="14" name="object 2">
            <a:extLst>
              <a:ext uri="{FF2B5EF4-FFF2-40B4-BE49-F238E27FC236}">
                <a16:creationId xmlns:a16="http://schemas.microsoft.com/office/drawing/2014/main" id="{0064CD23-EC4F-2130-6B60-D1E53BE03F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1499" y="241221"/>
            <a:ext cx="8843714" cy="9863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162E96-3A6B-6D8F-8CFF-90C9DC697142}"/>
              </a:ext>
            </a:extLst>
          </p:cNvPr>
          <p:cNvSpPr txBox="1"/>
          <p:nvPr/>
        </p:nvSpPr>
        <p:spPr>
          <a:xfrm>
            <a:off x="6892413" y="4231306"/>
            <a:ext cx="3657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Jegadeesh K </a:t>
            </a:r>
          </a:p>
        </p:txBody>
      </p:sp>
    </p:spTree>
    <p:extLst>
      <p:ext uri="{BB962C8B-B14F-4D97-AF65-F5344CB8AC3E}">
        <p14:creationId xmlns:p14="http://schemas.microsoft.com/office/powerpoint/2010/main" val="101983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94FA-E586-8C66-679A-226CBA36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04091-FB44-668C-D29F-71EA4875D978}"/>
              </a:ext>
            </a:extLst>
          </p:cNvPr>
          <p:cNvSpPr txBox="1"/>
          <p:nvPr/>
        </p:nvSpPr>
        <p:spPr>
          <a:xfrm rot="10800000" flipH="1" flipV="1">
            <a:off x="4186460" y="327875"/>
            <a:ext cx="5803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78A26-DEF0-B1B1-5D18-CBE1401B4E90}"/>
              </a:ext>
            </a:extLst>
          </p:cNvPr>
          <p:cNvSpPr txBox="1"/>
          <p:nvPr/>
        </p:nvSpPr>
        <p:spPr>
          <a:xfrm>
            <a:off x="117987" y="1786524"/>
            <a:ext cx="77871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 automated timetable management system using C++.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schedules based on predefined constraints.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unexpected timetable disruptions efficiently.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Repairs schedules while minimizing unnecessary changes.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conflict-free and reliable timetable generation.</a:t>
            </a:r>
          </a:p>
        </p:txBody>
      </p:sp>
      <p:pic>
        <p:nvPicPr>
          <p:cNvPr id="2" name="Picture 1" descr="Minimalist 3D render of a calendar, clock, and checklist, perfect for illustrating organization, time management, and task completion concepts.3d render">
            <a:extLst>
              <a:ext uri="{FF2B5EF4-FFF2-40B4-BE49-F238E27FC236}">
                <a16:creationId xmlns:a16="http://schemas.microsoft.com/office/drawing/2014/main" id="{32FF0E9B-4488-192F-9304-C45214C070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07" t="13619" r="19149" b="16489"/>
          <a:stretch>
            <a:fillRect/>
          </a:stretch>
        </p:blipFill>
        <p:spPr>
          <a:xfrm>
            <a:off x="7699775" y="1786524"/>
            <a:ext cx="4306723" cy="392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8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2CF5-29DC-CD67-A705-C77EB94A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81" y="15864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643AD-C9BD-5378-919C-820A25247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70" y="2000209"/>
            <a:ext cx="11228439" cy="5369069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timetable preparation is time-consuming.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conflicts may occur between classes and resources.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disruptions affect existing schedules.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rescheduling requires significant effort.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changes can affect multiple timetable entries.</a:t>
            </a:r>
          </a:p>
        </p:txBody>
      </p:sp>
      <p:pic>
        <p:nvPicPr>
          <p:cNvPr id="5" name="Picture 2" descr="College Stock Vectors and Vector Art ...">
            <a:extLst>
              <a:ext uri="{FF2B5EF4-FFF2-40B4-BE49-F238E27FC236}">
                <a16:creationId xmlns:a16="http://schemas.microsoft.com/office/drawing/2014/main" id="{9395D84C-3B6D-AABB-9F82-F793B6EEE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894" y="1562870"/>
            <a:ext cx="3157532" cy="440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79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9515E-A138-9ADB-6EF4-0E0C36F94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124" y="484020"/>
            <a:ext cx="6581225" cy="90992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BB185-E81B-1553-DE78-7BBC3351F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88" y="2090401"/>
            <a:ext cx="9803547" cy="3956437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timetable generation using constraints.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conflicts between scheduled activities.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disruptions through automatic rescheduling.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changes to the original timetable.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timetable quality and visualize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807E4-09DC-1B4E-7BEC-5E1B3E0FB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547" y="2090401"/>
            <a:ext cx="3456376" cy="374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7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E78C-713F-A30B-A484-1BC220B6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297" y="-9699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87C5-AC78-ABE6-9F34-5E2052092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805" y="2010041"/>
            <a:ext cx="11103401" cy="3525521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constraint-driven timetable management system in C++.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schedules using predefined rules and requirements.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disruptions and scheduling conflicts automatically.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Repair affected schedules while preserving valid entries.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updated timetable for easy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03422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4990438-4EDA-719D-3B3C-E03AF082B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678928"/>
              </p:ext>
            </p:extLst>
          </p:nvPr>
        </p:nvGraphicFramePr>
        <p:xfrm>
          <a:off x="195161" y="1465006"/>
          <a:ext cx="8998000" cy="4773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644">
                  <a:extLst>
                    <a:ext uri="{9D8B030D-6E8A-4147-A177-3AD203B41FA5}">
                      <a16:colId xmlns:a16="http://schemas.microsoft.com/office/drawing/2014/main" val="3727351206"/>
                    </a:ext>
                  </a:extLst>
                </a:gridCol>
                <a:gridCol w="5789356">
                  <a:extLst>
                    <a:ext uri="{9D8B030D-6E8A-4147-A177-3AD203B41FA5}">
                      <a16:colId xmlns:a16="http://schemas.microsoft.com/office/drawing/2014/main" val="3709965841"/>
                    </a:ext>
                  </a:extLst>
                </a:gridCol>
              </a:tblGrid>
              <a:tr h="429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768023"/>
                  </a:ext>
                </a:extLst>
              </a:tr>
              <a:tr h="740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Implements timetable generation, constraint checking, and automatic rescheduling.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342957"/>
                  </a:ext>
                </a:extLst>
              </a:tr>
              <a:tr h="429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STL (C++ Standard Template Library)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Manages timetable data using vectors, maps, and 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09016"/>
                  </a:ext>
                </a:extLst>
              </a:tr>
              <a:tr h="740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File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and retrieves timetable data and scheduling records.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137697"/>
                  </a:ext>
                </a:extLst>
              </a:tr>
              <a:tr h="740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Creates the structure of a web-based timetable interface, if a web interface is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652675"/>
                  </a:ext>
                </a:extLst>
              </a:tr>
              <a:tr h="740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Styles the timetable and improves its visual presentation, if a web interface is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625498"/>
                  </a:ext>
                </a:extLst>
              </a:tr>
              <a:tr h="740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Adds interactive features to the web interface, if a web interface is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5055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7B29BA-67FB-F37A-2DDC-60A1746B8531}"/>
              </a:ext>
            </a:extLst>
          </p:cNvPr>
          <p:cNvSpPr txBox="1"/>
          <p:nvPr/>
        </p:nvSpPr>
        <p:spPr>
          <a:xfrm>
            <a:off x="3165988" y="364277"/>
            <a:ext cx="5122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++ - Wikipedia">
            <a:extLst>
              <a:ext uri="{FF2B5EF4-FFF2-40B4-BE49-F238E27FC236}">
                <a16:creationId xmlns:a16="http://schemas.microsoft.com/office/drawing/2014/main" id="{D984462E-0D91-8951-2CEC-0A8D2DC3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666" y="255639"/>
            <a:ext cx="1725468" cy="1946787"/>
          </a:xfrm>
          <a:prstGeom prst="rect">
            <a:avLst/>
          </a:prstGeom>
        </p:spPr>
      </p:pic>
      <p:pic>
        <p:nvPicPr>
          <p:cNvPr id="8" name="Picture 7" descr="What is Javascript and why is it required for the People Like Us website? | People Like Us">
            <a:extLst>
              <a:ext uri="{FF2B5EF4-FFF2-40B4-BE49-F238E27FC236}">
                <a16:creationId xmlns:a16="http://schemas.microsoft.com/office/drawing/2014/main" id="{3CFC0C77-D2EE-5444-6C7C-A53CCAED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62" r="20801"/>
          <a:stretch>
            <a:fillRect/>
          </a:stretch>
        </p:blipFill>
        <p:spPr>
          <a:xfrm>
            <a:off x="9841455" y="2366503"/>
            <a:ext cx="1985375" cy="1946787"/>
          </a:xfrm>
          <a:prstGeom prst="rect">
            <a:avLst/>
          </a:prstGeom>
        </p:spPr>
      </p:pic>
      <p:pic>
        <p:nvPicPr>
          <p:cNvPr id="9" name="Picture 8" descr="HTML - Wikipedia">
            <a:extLst>
              <a:ext uri="{FF2B5EF4-FFF2-40B4-BE49-F238E27FC236}">
                <a16:creationId xmlns:a16="http://schemas.microsoft.com/office/drawing/2014/main" id="{0B5B8482-CF42-45A2-8801-DC12E4454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705" y="447736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07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884" y="256032"/>
            <a:ext cx="11731752" cy="6446520"/>
          </a:xfrm>
          <a:prstGeom prst="rect">
            <a:avLst/>
          </a:prstGeom>
          <a:solidFill>
            <a:srgbClr val="FFFFFF"/>
          </a:solidFill>
          <a:ln w="1651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1024128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700" b="1">
                <a:solidFill>
                  <a:srgbClr val="14305B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13232"/>
            <a:ext cx="1024128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500" b="0">
                <a:solidFill>
                  <a:srgbClr val="141E2D"/>
                </a:solidFill>
                <a:latin typeface="Aptos"/>
              </a:rPr>
              <a:t>Disruption-Resilient Timetable Management System in C++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417320"/>
            <a:ext cx="141732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14305B"/>
                </a:solidFill>
                <a:latin typeface="Aptos"/>
              </a:rPr>
              <a:t>USERS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438912" cy="438912"/>
          </a:xfrm>
          <a:prstGeom prst="ellipse">
            <a:avLst/>
          </a:prstGeom>
          <a:solidFill>
            <a:srgbClr val="14305B"/>
          </a:solidFill>
          <a:ln w="15240">
            <a:solidFill>
              <a:srgbClr val="1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38912" y="1938528"/>
            <a:ext cx="329184" cy="329184"/>
          </a:xfrm>
          <a:prstGeom prst="ellipse">
            <a:avLst/>
          </a:prstGeom>
          <a:solidFill>
            <a:srgbClr val="14305B"/>
          </a:solidFill>
          <a:ln w="15240">
            <a:solidFill>
              <a:srgbClr val="1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25296" y="1938528"/>
            <a:ext cx="329184" cy="329184"/>
          </a:xfrm>
          <a:prstGeom prst="ellipse">
            <a:avLst/>
          </a:prstGeom>
          <a:solidFill>
            <a:srgbClr val="14305B"/>
          </a:solidFill>
          <a:ln w="15240">
            <a:solidFill>
              <a:srgbClr val="1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9780" y="2244016"/>
            <a:ext cx="1234440" cy="384048"/>
          </a:xfrm>
          <a:prstGeom prst="roundRect">
            <a:avLst/>
          </a:prstGeom>
          <a:solidFill>
            <a:srgbClr val="14305B"/>
          </a:solidFill>
          <a:ln w="15240">
            <a:solidFill>
              <a:srgbClr val="1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645920" y="2331720"/>
            <a:ext cx="320040" cy="0"/>
          </a:xfrm>
          <a:prstGeom prst="line">
            <a:avLst/>
          </a:prstGeom>
          <a:ln w="19050">
            <a:solidFill>
              <a:srgbClr val="14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1417320"/>
            <a:ext cx="164592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14305B"/>
                </a:solidFill>
                <a:latin typeface="Aptos"/>
              </a:rPr>
              <a:t>USER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783080"/>
            <a:ext cx="1600200" cy="1097280"/>
          </a:xfrm>
          <a:prstGeom prst="roundRect">
            <a:avLst/>
          </a:prstGeom>
          <a:solidFill>
            <a:srgbClr val="DEEFFF"/>
          </a:solidFill>
          <a:ln w="19050">
            <a:solidFill>
              <a:srgbClr val="358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1938528"/>
            <a:ext cx="1417320" cy="7498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14305B"/>
                </a:solidFill>
                <a:latin typeface="Aptos"/>
              </a:rPr>
              <a:t>TIMETABLE
MANAGEMENT
MAIN MENU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2331720"/>
            <a:ext cx="384048" cy="0"/>
          </a:xfrm>
          <a:prstGeom prst="line">
            <a:avLst/>
          </a:prstGeom>
          <a:ln w="19050">
            <a:solidFill>
              <a:srgbClr val="14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86200" y="1325880"/>
            <a:ext cx="4983480" cy="352044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358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66360" y="1170432"/>
            <a:ext cx="2423160" cy="384048"/>
          </a:xfrm>
          <a:prstGeom prst="roundRect">
            <a:avLst/>
          </a:prstGeom>
          <a:solidFill>
            <a:srgbClr val="358FE6"/>
          </a:solidFill>
          <a:ln w="12700">
            <a:solidFill>
              <a:srgbClr val="358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188720"/>
            <a:ext cx="2304288" cy="33832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CORE SYSTEM MODULES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6512" y="1719072"/>
            <a:ext cx="2148840" cy="1170432"/>
          </a:xfrm>
          <a:prstGeom prst="roundRect">
            <a:avLst/>
          </a:prstGeom>
          <a:solidFill>
            <a:srgbClr val="DEEFFF"/>
          </a:solidFill>
          <a:ln w="16510">
            <a:solidFill>
              <a:srgbClr val="358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06240" y="1810512"/>
            <a:ext cx="310896" cy="310896"/>
          </a:xfrm>
          <a:prstGeom prst="ellipse">
            <a:avLst/>
          </a:prstGeom>
          <a:solidFill>
            <a:srgbClr val="358FE6"/>
          </a:solidFill>
          <a:ln w="12700">
            <a:solidFill>
              <a:srgbClr val="358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1810512"/>
            <a:ext cx="310896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2157984"/>
            <a:ext cx="1819656" cy="66751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50" b="1">
                <a:solidFill>
                  <a:srgbClr val="14305B"/>
                </a:solidFill>
                <a:latin typeface="Aptos"/>
              </a:rPr>
              <a:t>CONSTRAINT-BASED
TIMETABLE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2512" y="1719072"/>
            <a:ext cx="2267712" cy="1170432"/>
          </a:xfrm>
          <a:prstGeom prst="roundRect">
            <a:avLst/>
          </a:prstGeom>
          <a:solidFill>
            <a:srgbClr val="E6F7DE"/>
          </a:solidFill>
          <a:ln w="16510">
            <a:solidFill>
              <a:srgbClr val="43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92240" y="1810512"/>
            <a:ext cx="310896" cy="310896"/>
          </a:xfrm>
          <a:prstGeom prst="ellipse">
            <a:avLst/>
          </a:prstGeom>
          <a:solidFill>
            <a:srgbClr val="43AE5C"/>
          </a:solidFill>
          <a:ln w="12700">
            <a:solidFill>
              <a:srgbClr val="43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810512"/>
            <a:ext cx="310896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2157984"/>
            <a:ext cx="1938528" cy="66751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50" b="1">
                <a:solidFill>
                  <a:srgbClr val="14305B"/>
                </a:solidFill>
                <a:latin typeface="Aptos"/>
              </a:rPr>
              <a:t>DISRUPTION HANDLING &amp;
MINIMAL-CHANGE
AUTO-RESCHEDULING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96512" y="3136392"/>
            <a:ext cx="2148840" cy="1298448"/>
          </a:xfrm>
          <a:prstGeom prst="roundRect">
            <a:avLst/>
          </a:prstGeom>
          <a:solidFill>
            <a:srgbClr val="FFEBD2"/>
          </a:solidFill>
          <a:ln w="16510">
            <a:solidFill>
              <a:srgbClr val="E67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206240" y="3227832"/>
            <a:ext cx="310896" cy="310896"/>
          </a:xfrm>
          <a:prstGeom prst="ellipse">
            <a:avLst/>
          </a:prstGeom>
          <a:solidFill>
            <a:srgbClr val="E67320"/>
          </a:solidFill>
          <a:ln w="12700">
            <a:solidFill>
              <a:srgbClr val="E67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0" y="3227832"/>
            <a:ext cx="310896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3575304"/>
            <a:ext cx="1819656" cy="79552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50" b="1">
                <a:solidFill>
                  <a:srgbClr val="14305B"/>
                </a:solidFill>
                <a:latin typeface="Aptos"/>
              </a:rPr>
              <a:t>CONSTRAINT VALIDATION
&amp; CONFLICT DETECTION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2512" y="3136392"/>
            <a:ext cx="2267712" cy="1298448"/>
          </a:xfrm>
          <a:prstGeom prst="roundRect">
            <a:avLst/>
          </a:prstGeom>
          <a:solidFill>
            <a:srgbClr val="F0E5FF"/>
          </a:solidFill>
          <a:ln w="16510">
            <a:solidFill>
              <a:srgbClr val="875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3227832"/>
            <a:ext cx="310896" cy="310896"/>
          </a:xfrm>
          <a:prstGeom prst="ellipse">
            <a:avLst/>
          </a:prstGeom>
          <a:solidFill>
            <a:srgbClr val="8753C8"/>
          </a:solidFill>
          <a:ln w="12700">
            <a:solidFill>
              <a:srgbClr val="875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227832"/>
            <a:ext cx="310896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3575304"/>
            <a:ext cx="1938528" cy="79552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50" b="1">
                <a:solidFill>
                  <a:srgbClr val="14305B"/>
                </a:solidFill>
                <a:latin typeface="Aptos"/>
              </a:rPr>
              <a:t>TIMETABLE EVALUATION
&amp; VISUALIZATION</a:t>
            </a:r>
          </a:p>
        </p:txBody>
      </p:sp>
      <p:cxnSp>
        <p:nvCxnSpPr>
          <p:cNvPr id="34" name="Connector 33"/>
          <p:cNvCxnSpPr>
            <a:cxnSpLocks/>
          </p:cNvCxnSpPr>
          <p:nvPr/>
        </p:nvCxnSpPr>
        <p:spPr>
          <a:xfrm>
            <a:off x="8869680" y="2331720"/>
            <a:ext cx="777240" cy="0"/>
          </a:xfrm>
          <a:prstGeom prst="line">
            <a:avLst/>
          </a:prstGeom>
          <a:ln w="19050">
            <a:solidFill>
              <a:srgbClr val="14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</p:cNvCxnSpPr>
          <p:nvPr/>
        </p:nvCxnSpPr>
        <p:spPr>
          <a:xfrm flipH="1">
            <a:off x="8869680" y="2578608"/>
            <a:ext cx="777240" cy="0"/>
          </a:xfrm>
          <a:prstGeom prst="line">
            <a:avLst/>
          </a:prstGeom>
          <a:ln w="19050">
            <a:solidFill>
              <a:srgbClr val="14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62288" y="1417320"/>
            <a:ext cx="22860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14305B"/>
                </a:solidFill>
                <a:latin typeface="Aptos"/>
              </a:rPr>
              <a:t>DATA STORAGE</a:t>
            </a:r>
          </a:p>
        </p:txBody>
      </p:sp>
      <p:sp>
        <p:nvSpPr>
          <p:cNvPr id="37" name="Can 36"/>
          <p:cNvSpPr/>
          <p:nvPr/>
        </p:nvSpPr>
        <p:spPr>
          <a:xfrm>
            <a:off x="9646920" y="1810512"/>
            <a:ext cx="1234440" cy="1005840"/>
          </a:xfrm>
          <a:prstGeom prst="can">
            <a:avLst/>
          </a:prstGeom>
          <a:solidFill>
            <a:srgbClr val="F0E5FF"/>
          </a:solidFill>
          <a:ln w="19050">
            <a:solidFill>
              <a:srgbClr val="875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53728" y="2852928"/>
            <a:ext cx="2011680" cy="34747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50" b="1">
                <a:solidFill>
                  <a:srgbClr val="14305B"/>
                </a:solidFill>
                <a:latin typeface="Aptos"/>
              </a:rPr>
              <a:t>TIMETABLE DATABASE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71432" y="3310128"/>
            <a:ext cx="2240280" cy="1143000"/>
          </a:xfrm>
          <a:prstGeom prst="roundRect">
            <a:avLst/>
          </a:prstGeom>
          <a:solidFill>
            <a:srgbClr val="F8F6FF"/>
          </a:solidFill>
          <a:ln w="12700">
            <a:solidFill>
              <a:srgbClr val="BEA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9448" y="3383280"/>
            <a:ext cx="1993392" cy="987552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 algn="l"/>
            <a:r>
              <a:rPr sz="1050" b="0">
                <a:solidFill>
                  <a:srgbClr val="14305B"/>
                </a:solidFill>
                <a:latin typeface="Aptos"/>
              </a:rPr>
              <a:t>• Courses
• Faculty
• Rooms
• Time Slots
• Constraints
• Timetable &amp; Disruptions</a:t>
            </a:r>
          </a:p>
        </p:txBody>
      </p:sp>
      <p:cxnSp>
        <p:nvCxnSpPr>
          <p:cNvPr id="41" name="Connector 40"/>
          <p:cNvCxnSpPr>
            <a:cxnSpLocks/>
          </p:cNvCxnSpPr>
          <p:nvPr/>
        </p:nvCxnSpPr>
        <p:spPr>
          <a:xfrm>
            <a:off x="5765144" y="4846320"/>
            <a:ext cx="0" cy="521208"/>
          </a:xfrm>
          <a:prstGeom prst="line">
            <a:avLst/>
          </a:prstGeom>
          <a:ln w="19050">
            <a:solidFill>
              <a:srgbClr val="14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434840" y="5047488"/>
            <a:ext cx="123444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14305B"/>
                </a:solidFill>
                <a:latin typeface="Aptos"/>
              </a:rPr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69080" y="5376672"/>
            <a:ext cx="2331720" cy="822960"/>
          </a:xfrm>
          <a:prstGeom prst="roundRect">
            <a:avLst/>
          </a:prstGeom>
          <a:solidFill>
            <a:srgbClr val="DEEFFF"/>
          </a:solidFill>
          <a:ln w="16510">
            <a:solidFill>
              <a:srgbClr val="358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87952" y="5468112"/>
            <a:ext cx="209397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14305B"/>
                </a:solidFill>
                <a:latin typeface="Aptos"/>
              </a:rPr>
              <a:t>GENERATED TIMETABLE
Repaired schedule • Conflicts • Summary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29400" y="5285232"/>
            <a:ext cx="2240280" cy="100584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358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48272" y="5367528"/>
            <a:ext cx="2002536" cy="8229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050" b="0">
                <a:solidFill>
                  <a:srgbClr val="14305B"/>
                </a:solidFill>
                <a:latin typeface="Aptos"/>
              </a:rPr>
              <a:t>DISPLAY RESULT
Timetable, detected conflicts,
rescheduling changes &amp; evaluation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287000" y="4480560"/>
            <a:ext cx="0" cy="1280160"/>
          </a:xfrm>
          <a:prstGeom prst="line">
            <a:avLst/>
          </a:prstGeom>
          <a:ln w="17780">
            <a:solidFill>
              <a:srgbClr val="875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8887968" y="5760720"/>
            <a:ext cx="1399032" cy="0"/>
          </a:xfrm>
          <a:prstGeom prst="line">
            <a:avLst/>
          </a:prstGeom>
          <a:ln w="17780">
            <a:solidFill>
              <a:srgbClr val="875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051560" y="5760720"/>
            <a:ext cx="3017520" cy="0"/>
          </a:xfrm>
          <a:prstGeom prst="line">
            <a:avLst/>
          </a:prstGeom>
          <a:ln w="19050">
            <a:solidFill>
              <a:srgbClr val="14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cxnSpLocks/>
            <a:endCxn id="9" idx="2"/>
          </p:cNvCxnSpPr>
          <p:nvPr/>
        </p:nvCxnSpPr>
        <p:spPr>
          <a:xfrm flipH="1" flipV="1">
            <a:off x="1017000" y="2628064"/>
            <a:ext cx="34560" cy="3132656"/>
          </a:xfrm>
          <a:prstGeom prst="line">
            <a:avLst/>
          </a:prstGeom>
          <a:ln w="19050">
            <a:solidFill>
              <a:srgbClr val="14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417320" y="5870448"/>
            <a:ext cx="233172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950" b="0">
                <a:solidFill>
                  <a:srgbClr val="141E2D"/>
                </a:solidFill>
                <a:latin typeface="Aptos"/>
              </a:rPr>
              <a:t>Results returned to users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6345936"/>
            <a:ext cx="4297680" cy="1828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5A697D"/>
                </a:solidFill>
                <a:latin typeface="Aptos"/>
              </a:rPr>
              <a:t>Constraint-driven • Minimal-change repair • Conflict-free scheduling</a:t>
            </a:r>
          </a:p>
        </p:txBody>
      </p:sp>
      <p:cxnSp>
        <p:nvCxnSpPr>
          <p:cNvPr id="54" name="Connector 40">
            <a:extLst>
              <a:ext uri="{FF2B5EF4-FFF2-40B4-BE49-F238E27FC236}">
                <a16:creationId xmlns:a16="http://schemas.microsoft.com/office/drawing/2014/main" id="{36935DE9-26B8-806B-26CE-C1211A0157D3}"/>
              </a:ext>
            </a:extLst>
          </p:cNvPr>
          <p:cNvCxnSpPr>
            <a:cxnSpLocks/>
          </p:cNvCxnSpPr>
          <p:nvPr/>
        </p:nvCxnSpPr>
        <p:spPr>
          <a:xfrm>
            <a:off x="7534656" y="4846320"/>
            <a:ext cx="0" cy="461772"/>
          </a:xfrm>
          <a:prstGeom prst="line">
            <a:avLst/>
          </a:prstGeom>
          <a:ln w="19050">
            <a:solidFill>
              <a:srgbClr val="14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C3D6-6ABA-036F-2CF6-B0E24F2C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Constraint-Based Timetable Generation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2C918-EC4C-C57E-F8BA-16423AEB1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83" y="2010040"/>
            <a:ext cx="10324658" cy="418428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course, faculty, room, and time-slot details.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scheduling rules and resource requirements.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classes to suitable time slots.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overlapping faculty and room allocations.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initial timetable based on constraints.</a:t>
            </a:r>
          </a:p>
        </p:txBody>
      </p:sp>
    </p:spTree>
    <p:extLst>
      <p:ext uri="{BB962C8B-B14F-4D97-AF65-F5344CB8AC3E}">
        <p14:creationId xmlns:p14="http://schemas.microsoft.com/office/powerpoint/2010/main" val="4203766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9808-7D04-9BE3-F830-E68225505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Disruption Handling and Minimal-Change Auto-Rescheduling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8022B-9B1D-A2FF-FA62-78396CBA0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88" y="2021577"/>
            <a:ext cx="11253668" cy="470076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disruptions affecting scheduled activities.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Locates timetable entries impacted by changes.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for alternative valid time slots.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unaffected timetable entries whenever possible.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 repaired timetable with minimal changes.</a:t>
            </a:r>
          </a:p>
        </p:txBody>
      </p:sp>
    </p:spTree>
    <p:extLst>
      <p:ext uri="{BB962C8B-B14F-4D97-AF65-F5344CB8AC3E}">
        <p14:creationId xmlns:p14="http://schemas.microsoft.com/office/powerpoint/2010/main" val="173208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ABBA-58A2-3040-275B-A74F3A572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Constraint Validation and Conflict Detection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0643-6086-A15B-6A27-03661A28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21" y="2039538"/>
            <a:ext cx="11253668" cy="470076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timetable entries against defined constraints.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faculty and classroom scheduling conflicts.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overlapping classes and invalid assignments.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timetable after automatic rescheduling.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constraint violations for correction.</a:t>
            </a:r>
          </a:p>
        </p:txBody>
      </p:sp>
    </p:spTree>
    <p:extLst>
      <p:ext uri="{BB962C8B-B14F-4D97-AF65-F5344CB8AC3E}">
        <p14:creationId xmlns:p14="http://schemas.microsoft.com/office/powerpoint/2010/main" val="93187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449E-2FFE-4990-7952-02C345697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Timetable Evaluation and Visualization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6E4DC-1BBC-7E50-7DE8-0E3B17296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66" y="2157239"/>
            <a:ext cx="11253668" cy="470076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generated timetable in a readable format.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original and repaired schedules.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timetable quality using defined criteria.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conflicts and modified schedule entries.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the final timetable for easy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3514084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D36C-DF1C-97B6-D82F-912CB1C2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332" y="233011"/>
            <a:ext cx="4427960" cy="90992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609AA-1312-6579-5717-BBD52AFA0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78" y="1803563"/>
            <a:ext cx="11253668" cy="470076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timetable preparation effort.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scheduling conflicts systematically.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Responds efficiently to unexpected disruptions.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unnecessary changes to existing schedules.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timetable reliability and resource utilization.</a:t>
            </a:r>
          </a:p>
        </p:txBody>
      </p:sp>
    </p:spTree>
    <p:extLst>
      <p:ext uri="{BB962C8B-B14F-4D97-AF65-F5344CB8AC3E}">
        <p14:creationId xmlns:p14="http://schemas.microsoft.com/office/powerpoint/2010/main" val="3389837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5F65-A62D-3DFD-418A-55C9DB2B8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950" y="213347"/>
            <a:ext cx="3926515" cy="90992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4D562-D1F0-AEB0-5A32-B9088D87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994" y="2000209"/>
            <a:ext cx="11642180" cy="526583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timetable generation using constraint-based techniques.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handling of scheduling disruptions.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conflicts through systematic validation.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unaffected entries during schedule repair.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reliable foundation for future timetable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3850175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AE17-360B-0FEF-C8D6-F43AA826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289611">
            <a:off x="1172498" y="2901852"/>
            <a:ext cx="10515600" cy="1325563"/>
          </a:xfrm>
        </p:spPr>
        <p:txBody>
          <a:bodyPr>
            <a:noAutofit/>
          </a:bodyPr>
          <a:lstStyle/>
          <a:p>
            <a:r>
              <a:rPr lang="en-US" sz="1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  <a:endParaRPr lang="en-IN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710803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390</TotalTime>
  <Words>932</Words>
  <Application>Microsoft Office PowerPoint</Application>
  <PresentationFormat>Widescreen</PresentationFormat>
  <Paragraphs>127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Nova Light</vt:lpstr>
      <vt:lpstr>Times New Roman</vt:lpstr>
      <vt:lpstr>Univers Condensed</vt:lpstr>
      <vt:lpstr>Wingdings</vt:lpstr>
      <vt:lpstr>Lines</vt:lpstr>
      <vt:lpstr>Disruption-Resilient Timetable Management System </vt:lpstr>
      <vt:lpstr>PowerPoint Presentation</vt:lpstr>
      <vt:lpstr>Problem Statement</vt:lpstr>
      <vt:lpstr>OBJECTIVES</vt:lpstr>
      <vt:lpstr>PROPOSED SYSTEM</vt:lpstr>
      <vt:lpstr>PowerPoint Presentation</vt:lpstr>
      <vt:lpstr>PowerPoint Presentation</vt:lpstr>
      <vt:lpstr>Module 1 – Constraint-Based Timetable Generation</vt:lpstr>
      <vt:lpstr>Module 2 – Disruption Handling and Minimal-Change Auto-Rescheduling</vt:lpstr>
      <vt:lpstr>Module 3 – Constraint Validation and Conflict Detection</vt:lpstr>
      <vt:lpstr>Module 4 – Timetable Evaluation and Visualization</vt:lpstr>
      <vt:lpstr>ADVANTAGES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yadesh thiru</dc:creator>
  <cp:lastModifiedBy>yadesh thiru</cp:lastModifiedBy>
  <cp:revision>21</cp:revision>
  <dcterms:created xsi:type="dcterms:W3CDTF">2026-06-16T09:08:13Z</dcterms:created>
  <dcterms:modified xsi:type="dcterms:W3CDTF">2026-10-23T04:47:53Z</dcterms:modified>
</cp:coreProperties>
</file>